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109728" cy="2743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920240"/>
            <a:ext cx="10058400" cy="3200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5400" b="1">
                <a:solidFill>
                  <a:srgbClr val="F8FAFC"/>
                </a:solidFill>
                <a:latin typeface="Outfit"/>
              </a:defRPr>
            </a:pPr>
            <a:r>
              <a:t>ExpenseTracker</a:t>
            </a:r>
          </a:p>
          <a:p>
            <a:pPr>
              <a:spcAft>
                <a:spcPts val="2400"/>
              </a:spcAft>
              <a:defRPr sz="2200">
                <a:solidFill>
                  <a:srgbClr val="6366F1"/>
                </a:solidFill>
                <a:latin typeface="Inter"/>
              </a:defRPr>
            </a:pPr>
            <a:r>
              <a:t>Smart Personal Finance &amp; Analytics Platform</a:t>
            </a:r>
          </a:p>
          <a:p>
            <a:pPr>
              <a:defRPr sz="1200">
                <a:solidFill>
                  <a:srgbClr val="94A3B8"/>
                </a:solidFill>
                <a:latin typeface="Inter"/>
              </a:defRPr>
            </a:pPr>
            <a:r>
              <a:t>A complete Flask, SQLAlchemy &amp; Chart.js Web Application Suite</a:t>
            </a:r>
            <a:br/>
            <a:r>
              <a:t>Designed by Shreya Sagar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6366F1"/>
                </a:solidFill>
                <a:latin typeface="Outfit"/>
              </a:defRPr>
            </a:pPr>
            <a:r>
              <a:t>01. EXECUTIVE SUMMARY</a:t>
            </a:r>
          </a:p>
          <a:p>
            <a:pPr>
              <a:defRPr sz="2800" b="1">
                <a:solidFill>
                  <a:srgbClr val="0F172A"/>
                </a:solidFill>
                <a:latin typeface="Outfit"/>
              </a:defRPr>
            </a:pPr>
            <a:r>
              <a:t>Introduction &amp;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600">
                <a:solidFill>
                  <a:srgbClr val="0F172A"/>
                </a:solidFill>
                <a:latin typeface="Inter"/>
              </a:defRPr>
            </a:pPr>
            <a:r>
              <a:t>ExpenseTracker is a comprehensive, premium web application built to help users manage their financial health. By combining transactional logging with dynamic visualization tools, the application offers an end-to-end sandbox for personal asset management.</a:t>
            </a:r>
          </a:p>
          <a:p>
            <a:pPr>
              <a:spcAft>
                <a:spcPts val="1000"/>
              </a:spcAft>
              <a:defRPr sz="1800" b="1">
                <a:solidFill>
                  <a:srgbClr val="6366F1"/>
                </a:solidFill>
                <a:latin typeface="Outfit"/>
              </a:defRPr>
            </a:pPr>
            <a:r>
              <a:t>Core Value Propositions: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•  Interactive Dashboards: Real-time calculation of net balance, total income, and category distributions.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•  Granular Personalization: Tailor app currencies, custom warning alert thresholds, and language preferences dynamically.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•  Secure Storage: Password hashing protection, user session isolation, and secure local receipt image attachments.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•  Double-Quoted Statements Exporter: Export monthly statements into CSV, ReportLab PDF, or python-pptx PowerPoint formats.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  <a:latin typeface="Outfit"/>
              </a:defRPr>
            </a:pPr>
            <a:r>
              <a:t>02. TECHNICAL ARCHITECTURE</a:t>
            </a:r>
          </a:p>
          <a:p>
            <a:pPr>
              <a:defRPr sz="2800" b="1">
                <a:solidFill>
                  <a:srgbClr val="F8FAFC"/>
                </a:solidFill>
                <a:latin typeface="Outfit"/>
              </a:defRPr>
            </a:pPr>
            <a:r>
              <a:t>Technology Stack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0B981"/>
                </a:solidFill>
                <a:latin typeface="Outfit"/>
              </a:defRPr>
            </a:pPr>
            <a:r>
              <a:t>Backend Framework &amp; Core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Flask (v3.0.3) - Lightweight, modular WSGI web application framework for routing and session controllers.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SQLAlchemy ORM - Abstracted SQLite database access mapping relational objects to clean python classes.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Flask-Login - Managed secure user login state, session cookies, and route protection rules.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Werkzeug - Secure password cryptography hashing and local receipt image filename sanitizations.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6366F1"/>
                </a:solidFill>
                <a:latin typeface="Outfit"/>
              </a:defRPr>
            </a:pPr>
            <a:r>
              <a:t>Frontend, Charts &amp; Exporters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Bootstrap 5 - Premium utility structure, dynamic layouts, grid templates, and interactive modal sheets.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Chart.js - Client-side HTML5 canvas doughnut and bar visualization for category and monthly spends.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ReportLab PDF - Server-side rendering flowables generating secure, double-quoted statements.</a:t>
            </a:r>
          </a:p>
          <a:p>
            <a:pPr>
              <a:spcAft>
                <a:spcPts val="10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▪  python-pptx - Dynamic presentation slides compiler converting monthly database stats to widescreen PPTX downloads.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6366F1"/>
                </a:solidFill>
                <a:latin typeface="Outfit"/>
              </a:defRPr>
            </a:pPr>
            <a:r>
              <a:t>03. PRESENTATION ROADMAP</a:t>
            </a:r>
          </a:p>
          <a:p>
            <a:pPr>
              <a:defRPr sz="2800" b="1">
                <a:solidFill>
                  <a:srgbClr val="0F172A"/>
                </a:solidFill>
                <a:latin typeface="Outfit"/>
              </a:defRPr>
            </a:pPr>
            <a:r>
              <a:t>Table of Contents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6596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6366F1"/>
                </a:solidFill>
                <a:latin typeface="Outfit"/>
              </a:defRPr>
            </a:pPr>
            <a:r>
              <a:t>01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Outfit"/>
              </a:defRPr>
            </a:pPr>
            <a:r>
              <a:t>Introduction &amp; Overview</a:t>
            </a:r>
          </a:p>
          <a:p>
            <a:pPr>
              <a:defRPr sz="1050">
                <a:solidFill>
                  <a:srgbClr val="64748B"/>
                </a:solidFill>
                <a:latin typeface="Inter"/>
              </a:defRPr>
            </a:pPr>
            <a:r>
              <a:t>Executive recap of value proposition and business benefits.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6280" y="196596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6366F1"/>
                </a:solidFill>
                <a:latin typeface="Outfit"/>
              </a:defRPr>
            </a:pPr>
            <a:r>
              <a:t>02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Outfit"/>
              </a:defRPr>
            </a:pPr>
            <a:r>
              <a:t>Technology Stack Modules</a:t>
            </a:r>
          </a:p>
          <a:p>
            <a:pPr>
              <a:defRPr sz="1050">
                <a:solidFill>
                  <a:srgbClr val="64748B"/>
                </a:solidFill>
                <a:latin typeface="Inter"/>
              </a:defRPr>
            </a:pPr>
            <a:r>
              <a:t>Core frameworks, styling components, and backend databases.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80" y="196596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6366F1"/>
                </a:solidFill>
                <a:latin typeface="Outfit"/>
              </a:defRPr>
            </a:pPr>
            <a:r>
              <a:t>03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Outfit"/>
              </a:defRPr>
            </a:pPr>
            <a:r>
              <a:t>Personalization Suite</a:t>
            </a:r>
          </a:p>
          <a:p>
            <a:pPr>
              <a:defRPr sz="1050">
                <a:solidFill>
                  <a:srgbClr val="64748B"/>
                </a:solidFill>
                <a:latin typeface="Inter"/>
              </a:defRPr>
            </a:pPr>
            <a:r>
              <a:t>Dynamic translations, custom swatches, and custom categories.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5196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6366F1"/>
                </a:solidFill>
                <a:latin typeface="Outfit"/>
              </a:defRPr>
            </a:pPr>
            <a:r>
              <a:t>04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Outfit"/>
              </a:defRPr>
            </a:pPr>
            <a:r>
              <a:t>Ledger &amp; Transaction Audits</a:t>
            </a:r>
          </a:p>
          <a:p>
            <a:pPr>
              <a:defRPr sz="1050">
                <a:solidFill>
                  <a:srgbClr val="64748B"/>
                </a:solidFill>
                <a:latin typeface="Inter"/>
              </a:defRPr>
            </a:pPr>
            <a:r>
              <a:t>Data entries, receipt uploads, and category ledger views.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1148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25196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6366F1"/>
                </a:solidFill>
                <a:latin typeface="Outfit"/>
              </a:defRPr>
            </a:pPr>
            <a:r>
              <a:t>05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Outfit"/>
              </a:defRPr>
            </a:pPr>
            <a:r>
              <a:t>Budgets &amp; Warnings Engine</a:t>
            </a:r>
          </a:p>
          <a:p>
            <a:pPr>
              <a:defRPr sz="1050">
                <a:solidFill>
                  <a:srgbClr val="64748B"/>
                </a:solidFill>
                <a:latin typeface="Inter"/>
              </a:defRPr>
            </a:pPr>
            <a:r>
              <a:t>Visual overlays, alert thresholds, and notification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114800"/>
            <a:ext cx="33832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4251960"/>
            <a:ext cx="310896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6366F1"/>
                </a:solidFill>
                <a:latin typeface="Outfit"/>
              </a:defRPr>
            </a:pPr>
            <a:r>
              <a:t>06</a:t>
            </a:r>
          </a:p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Outfit"/>
              </a:defRPr>
            </a:pPr>
            <a:r>
              <a:t>Reporting &amp; Exports Engine</a:t>
            </a:r>
          </a:p>
          <a:p>
            <a:pPr>
              <a:defRPr sz="1050">
                <a:solidFill>
                  <a:srgbClr val="64748B"/>
                </a:solidFill>
                <a:latin typeface="Inter"/>
              </a:defRPr>
            </a:pPr>
            <a:r>
              <a:t>Double-quoted PDF, CSV, and PPTX monthly statements.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  <a:latin typeface="Outfit"/>
              </a:defRPr>
            </a:pPr>
            <a:r>
              <a:t>04. USER CUSTOMIZATIONS</a:t>
            </a:r>
          </a:p>
          <a:p>
            <a:pPr>
              <a:defRPr sz="2800" b="1">
                <a:solidFill>
                  <a:srgbClr val="F8FAFC"/>
                </a:solidFill>
                <a:latin typeface="Outfit"/>
              </a:defRPr>
            </a:pPr>
            <a:r>
              <a:t>Granular Personalization Suite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F8FAFC"/>
                </a:solidFill>
                <a:latin typeface="Inter"/>
              </a:defRPr>
            </a:pPr>
            <a:r>
              <a:t>ExpenseTracker provides a personalized interface where every user configuration updates the visual layout without modifying static resource files: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  <a:latin typeface="Outfit"/>
              </a:defRPr>
            </a:pPr>
            <a:r>
              <a:t>✔  Multi-Currency Support: 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Select between Rupees (₹), Dollar ($), Euro (€), or Pound (£). All figures dynamically update on cards, ledgers, and export logs.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  <a:latin typeface="Outfit"/>
              </a:defRPr>
            </a:pPr>
            <a:r>
              <a:t>✔  Dynamic Localization: 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Select between English, Español, and Hindi. Jinja translations automatically localize the titles, headers, labels, and helper texts.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  <a:latin typeface="Outfit"/>
              </a:defRPr>
            </a:pPr>
            <a:r>
              <a:t>✔  Custom Categories Manager: 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Create, list, and delete user-defined categories. Custom tags automatically merge with defaults for transaction entries and filters.</a:t>
            </a:r>
          </a:p>
          <a:p>
            <a:pPr>
              <a:spcAft>
                <a:spcPts val="200"/>
              </a:spcAft>
              <a:defRPr sz="1300" b="1">
                <a:solidFill>
                  <a:srgbClr val="10B981"/>
                </a:solidFill>
                <a:latin typeface="Outfit"/>
              </a:defRPr>
            </a:pPr>
            <a:r>
              <a:t>✔  Accent Customization: </a:t>
            </a:r>
          </a:p>
          <a:p>
            <a:pPr>
              <a:spcAft>
                <a:spcPts val="1200"/>
              </a:spcAft>
              <a:defRPr sz="1200">
                <a:solidFill>
                  <a:srgbClr val="94A3B8"/>
                </a:solidFill>
                <a:latin typeface="Inter"/>
              </a:defRPr>
            </a:pPr>
            <a:r>
              <a:t>Choose Indigo, Emerald, Rose, Amber, or Blue themes. Swatches update colors, buttons, and navigation bar gradients.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6366F1"/>
                </a:solidFill>
                <a:latin typeface="Outfit"/>
              </a:defRPr>
            </a:pPr>
            <a:r>
              <a:t>05. CORE ACCOUNTING</a:t>
            </a:r>
          </a:p>
          <a:p>
            <a:pPr>
              <a:defRPr sz="2800" b="1">
                <a:solidFill>
                  <a:srgbClr val="0F172A"/>
                </a:solidFill>
                <a:latin typeface="Outfit"/>
              </a:defRPr>
            </a:pPr>
            <a:r>
              <a:t>Ledger &amp; Transaction Auditing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0F172A"/>
                </a:solidFill>
                <a:latin typeface="Inter"/>
              </a:defRPr>
            </a:pPr>
            <a:r>
              <a:t>At the core of the platform is an auditing ledger. It allows users to track their finances with metadata details: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▪  Dual Entries: Separate routing controls for income flows and expense records.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▪  Image Receipts Attachment: Secure local directory file upload (UUID prefixed) to store physical audit evidence.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▪  Audited Fields: Log exact transactional timestamps, category classifications, and detailed text notes.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▪  Advanced Filter Engine: Sort ledger data by category, type (income/expense), dates, and search descriptions.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  <a:latin typeface="Outfit"/>
              </a:defRPr>
            </a:pPr>
            <a:r>
              <a:t>06. THRESHOLD MANAGEMENT</a:t>
            </a:r>
          </a:p>
          <a:p>
            <a:pPr>
              <a:defRPr sz="2800" b="1">
                <a:solidFill>
                  <a:srgbClr val="F8FAFC"/>
                </a:solidFill>
                <a:latin typeface="Outfit"/>
              </a:defRPr>
            </a:pPr>
            <a:r>
              <a:t>Budgets &amp; Warnings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F8FAFC"/>
                </a:solidFill>
                <a:latin typeface="Inter"/>
              </a:defRPr>
            </a:pPr>
            <a:r>
              <a:t>To keep users aligned with their financial goals, the platform features a responsive warnings engine: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★  Category Budgets: Establish monthly limits for categories (Food, Bills, Shopping, Travel, etc.) to control overspending.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★  Custom Warning Thresholds: Set customized alert triggers (e.g. 80% or 90% of budget) using an interactive slider.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★  Real-Time Alerts: Highlights 'Over Limit' badges on reports table, flashes warnings on the dashboard, and outputs alerts in the navbar dropdown.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★  Savings Milestone Tracking: Visual milestones indicating budget status and monthly net-savings percentage achievements.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6366F1"/>
                </a:solidFill>
                <a:latin typeface="Outfit"/>
              </a:defRPr>
            </a:pPr>
            <a:r>
              <a:t>07. FINANCIAL INTELLIGENCE</a:t>
            </a:r>
          </a:p>
          <a:p>
            <a:pPr>
              <a:defRPr sz="2800" b="1">
                <a:solidFill>
                  <a:srgbClr val="0F172A"/>
                </a:solidFill>
                <a:latin typeface="Outfit"/>
              </a:defRPr>
            </a:pPr>
            <a:r>
              <a:t>Visual Analytics &amp;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0F172A"/>
                </a:solidFill>
                <a:latin typeface="Inter"/>
              </a:defRPr>
            </a:pPr>
            <a:r>
              <a:t>Data visualization transforms numbers into decisions. Chart.js powers client-side interactive rendering: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✓  Category Spending Doughnut Chart: Interactive proportions displaying category percentages on hover.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✓  Temporal Spends Bar Chart: Monthly trends tracking income vs expense comparison over time.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✓  Responsive Mode Rendering: JavaScript helpers re-render Chart.js colors to adapt dynamically to Dark Mode and Light Mode theme switches.</a:t>
            </a:r>
          </a:p>
          <a:p>
            <a:pPr>
              <a:spcAft>
                <a:spcPts val="1000"/>
              </a:spcAft>
              <a:defRPr sz="1300">
                <a:solidFill>
                  <a:srgbClr val="64748B"/>
                </a:solidFill>
                <a:latin typeface="Inter"/>
              </a:defRPr>
            </a:pPr>
            <a:r>
              <a:t>✓  Accents Integration: Colors automatically scale to fit selected theme swatches (Indigo, Emerald, Rose, Amber, Blue).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  <a:latin typeface="Outfit"/>
              </a:defRPr>
            </a:pPr>
            <a:r>
              <a:t>08. EXPORT ENGINE</a:t>
            </a:r>
          </a:p>
          <a:p>
            <a:pPr>
              <a:defRPr sz="2800" b="1">
                <a:solidFill>
                  <a:srgbClr val="F8FAFC"/>
                </a:solidFill>
                <a:latin typeface="Outfit"/>
              </a:defRPr>
            </a:pPr>
            <a:r>
              <a:t>Reporting &amp; Statement Exporters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F8FAFC"/>
                </a:solidFill>
                <a:latin typeface="Inter"/>
              </a:defRPr>
            </a:pPr>
            <a:r>
              <a:t>Export statement files cleanly with maximum browser download compatibility: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▪  ReportLab PDF Statements: Custom flowable layouts displaying clean typography, summarized key metrics, category analysis grids, and structured transaction detail logs.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▪  Microsoft PowerPoint Slideshows: Python-pptx compiles widescreen slideshows containing key summaries and colored category Spent vs. Budget tables.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▪  Double-Quoted Filename Safety: Filename parameter double-quotes in Content-Disposition headers to bypass localhost download manager UUID renames.</a:t>
            </a:r>
          </a:p>
          <a:p>
            <a:pPr>
              <a:spcAft>
                <a:spcPts val="1000"/>
              </a:spcAft>
              <a:defRPr sz="1300">
                <a:solidFill>
                  <a:srgbClr val="94A3B8"/>
                </a:solidFill>
                <a:latin typeface="Inter"/>
              </a:defRPr>
            </a:pPr>
            <a:r>
              <a:t>▪  Standard CSV Outputs: Unformatted, comma-separated spreadsheets ideal for Excel and Google Sheets integration.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6366F1"/>
                </a:solidFill>
                <a:latin typeface="Outfit"/>
              </a:defRPr>
            </a:pPr>
            <a:r>
              <a:t>09. DATA DESIGN &amp; FUTURE</a:t>
            </a:r>
          </a:p>
          <a:p>
            <a:pPr>
              <a:defRPr sz="2800" b="1">
                <a:solidFill>
                  <a:srgbClr val="0F172A"/>
                </a:solidFill>
                <a:latin typeface="Outfit"/>
              </a:defRPr>
            </a:pPr>
            <a:r>
              <a:t>Database Architecture &amp; Future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6366F1"/>
                </a:solidFill>
                <a:latin typeface="Outfit"/>
              </a:defRPr>
            </a:pPr>
            <a:r>
              <a:t>Relational Schema Model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Inter"/>
              </a:defRPr>
            </a:pPr>
            <a:r>
              <a:t>•  User Table: IDs, credentials, profile pictures, localizations, and customized alert thresholds.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Inter"/>
              </a:defRPr>
            </a:pPr>
            <a:r>
              <a:t>•  Transaction Table: Relates to User. Stores dates, amounts, categories, descriptions, types, and receipt images.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Inter"/>
              </a:defRPr>
            </a:pPr>
            <a:r>
              <a:t>•  Budget Table: Tracks custom category limits mapped dynamically by month.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Inter"/>
              </a:defRPr>
            </a:pPr>
            <a:r>
              <a:t>•  CustomCategory Table: Dynamic categories configured by individual users.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82880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0B981"/>
                </a:solidFill>
                <a:latin typeface="Outfit"/>
              </a:defRPr>
            </a:pPr>
            <a:r>
              <a:t>Future Project Roadmap</a:t>
            </a:r>
          </a:p>
          <a:p>
            <a:pPr>
              <a:spcAft>
                <a:spcPts val="1000"/>
              </a:spcAft>
              <a:defRPr sz="1150">
                <a:solidFill>
                  <a:srgbClr val="64748B"/>
                </a:solidFill>
                <a:latin typeface="Inter"/>
              </a:defRPr>
            </a:pPr>
            <a:r>
              <a:t>★  AI-Powered Audits: Automatic categorization of uploaded receipts via OCR image text analysis.</a:t>
            </a:r>
          </a:p>
          <a:p>
            <a:pPr>
              <a:spcAft>
                <a:spcPts val="1000"/>
              </a:spcAft>
              <a:defRPr sz="1150">
                <a:solidFill>
                  <a:srgbClr val="64748B"/>
                </a:solidFill>
                <a:latin typeface="Inter"/>
              </a:defRPr>
            </a:pPr>
            <a:r>
              <a:t>★  Bank Sync Integration: Automatic feeds loading transactions safely via secure Open Banking APIs.</a:t>
            </a:r>
          </a:p>
          <a:p>
            <a:pPr>
              <a:spcAft>
                <a:spcPts val="1000"/>
              </a:spcAft>
              <a:defRPr sz="1150">
                <a:solidFill>
                  <a:srgbClr val="64748B"/>
                </a:solidFill>
                <a:latin typeface="Inter"/>
              </a:defRPr>
            </a:pPr>
            <a:r>
              <a:t>★  Predictive Alerts: AI models forecasting cashflow changes and warning of potential budget breaches in advance.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